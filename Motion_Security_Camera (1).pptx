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06f52b6-e540-e8ad-3336-5341695d720c}">
          <p14:sldIdLst>
            <p14:sldId id="256"/>
            <p14:sldId id="257"/>
            <p14:sldId id="258"/>
          </p14:sldIdLst>
        </p14:section>
        <p14:section name="Method" id="{c566ccdf-fe84-3856-cabf-68ad9d73612d}">
          <p14:sldIdLst>
            <p14:sldId id="259"/>
            <p14:sldId id="260"/>
            <p14:sldId id="261"/>
            <p14:sldId id="262"/>
          </p14:sldIdLst>
        </p14:section>
        <p14:section name="Demo and Results" id="{6834e2fc-7be0-0955-a39e-f8a54e55c587}">
          <p14:sldIdLst>
            <p14:sldId id="263"/>
            <p14:sldId id="264"/>
          </p14:sldIdLst>
        </p14:section>
        <p14:section name="Wrap-up" id="{a6269111-1334-bf78-3831-9d801fc254f0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2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220"/>
                </a:solidFill>
                <a:latin typeface="+mn-lt"/>
              </a:rPr>
              <a:t>Detection rate (% of 272 frames)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rate (%)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2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A: Sensitive</c:v>
                  </c:pt>
                  <c:pt idx="1">
                    <c:v>B: Original</c:v>
                  </c:pt>
                  <c:pt idx="2">
                    <c:v>C: Less sensitive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84.93</c:v>
                </c:pt>
                <c:pt idx="1">
                  <c:v>68.75</c:v>
                </c:pt>
                <c:pt idx="2">
                  <c:v>43.01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B12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 · 0:00-0:45. Greet the class, introduce the team and the project title. Script: Presentation_Script.md,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 · 0:45-2:00. Expensive systems, tiring to watch, wasteful storage. Then introduce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 · 2:00-3:00. Read the four main objectives, then pass to Member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 · 3:00-5:00. Explain each topic: a. image operations, b. segmentation, e. motion 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 · 5:00-6:00. Walk through the 8 steps left to right. Stress the last line: current frame becomes previous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 · 6:00-6:45. Left: camera frame with the detected phone. Right: the motion mask. absdiff + threshold + dilate turn changed pixels white and static pixels black.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 · 6:45-8:15. All 3 tests used the same 272-frame video. Detection rate = sensitivity, not accuracy. Test C missed small movement. All three detected large and slow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 · 8:15-11:45. Run python main.py with the Motion Mask window beside the main window. If the webcam fails, set CAMERA_INDEX to samples/demo.mp4.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 · 11:45-12:15. Output is clear: status, boxes, count, date and time, and the saved screenshot includes all overlays.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 · 12:15-13:30. Be honest about limitations. Test C missed small movement; only one video was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 · 13:30-14:15. Mention MOG2 background subtraction first, then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 · 14:15-15:00. State the key learnings, show the GitHub link, then open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005840"/>
            <a:ext cx="51206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834640"/>
            <a:ext cx="51206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CSC 126 · Motion-Triggered Security Camera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CSC 126 · Motion-Triggered Security Camera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0058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Motion-Triggered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Security Camera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2834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Using OpenCV: frame differencing and contour tracking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CSC 126 · Computer Vision · Midterm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[Name 1]  ·  [Name 2]  ·  [Name 3]</a:t>
            </a:r>
            <a:endParaRPr lang="en-US" sz="1400" dirty="0"/>
          </a:p>
        </p:txBody>
      </p:sp>
      <p:sp>
        <p:nvSpPr>
          <p:cNvPr id="6" name="Viewfinder frame"/>
          <p:cNvSpPr/>
          <p:nvPr/>
        </p:nvSpPr>
        <p:spPr>
          <a:xfrm>
            <a:off x="6035040" y="1097280"/>
            <a:ext cx="265176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7" name="Status pill"/>
          <p:cNvSpPr txBox="1"/>
          <p:nvPr/>
        </p:nvSpPr>
        <p:spPr>
          <a:xfrm>
            <a:off x="6217920" y="1261872"/>
            <a:ext cx="160020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MOTION DETECTED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6642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Moving Objects: 1</a:t>
            </a:r>
            <a:endParaRPr lang="en-US" sz="1100" dirty="0"/>
          </a:p>
        </p:txBody>
      </p:sp>
      <p:sp>
        <p:nvSpPr>
          <p:cNvPr id="9" name="Figure head"/>
          <p:cNvSpPr/>
          <p:nvPr/>
        </p:nvSpPr>
        <p:spPr>
          <a:xfrm>
            <a:off x="7114032" y="214884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0" name="Figure body"/>
          <p:cNvSpPr/>
          <p:nvPr/>
        </p:nvSpPr>
        <p:spPr>
          <a:xfrm>
            <a:off x="6903720" y="2560320"/>
            <a:ext cx="804672" cy="713232"/>
          </a:xfrm>
          <a:prstGeom prst="roundRect">
            <a:avLst>
              <a:gd name="adj" fmla="val 25641"/>
            </a:avLst>
          </a:prstGeom>
          <a:solidFill>
            <a:schemeClr val="accent6"/>
          </a:solidFill>
          <a:ln/>
        </p:spPr>
      </p:sp>
      <p:sp>
        <p:nvSpPr>
          <p:cNvPr id="11" name="Bounding box"/>
          <p:cNvSpPr/>
          <p:nvPr/>
        </p:nvSpPr>
        <p:spPr>
          <a:xfrm>
            <a:off x="6720840" y="2011680"/>
            <a:ext cx="1188720" cy="1371600"/>
          </a:xfrm>
          <a:prstGeom prst="rect">
            <a:avLst/>
          </a:prstGeom>
          <a:ln w="3175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Problem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234440"/>
            <a:ext cx="256032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Expensive circle"/>
          <p:cNvSpPr/>
          <p:nvPr/>
        </p:nvSpPr>
        <p:spPr>
          <a:xfrm>
            <a:off x="68580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Expens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6116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Expensive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60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Commercial security systems cost too much for small homes and shops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3291840" y="1234440"/>
            <a:ext cx="256032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iring circle"/>
          <p:cNvSpPr/>
          <p:nvPr/>
        </p:nvSpPr>
        <p:spPr>
          <a:xfrm>
            <a:off x="352044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Ti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6116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Tiring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560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Watching camera footage all day is exhausting and unreliable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6126480" y="1234440"/>
            <a:ext cx="256032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Wasteful circle"/>
          <p:cNvSpPr/>
          <p:nvPr/>
        </p:nvSpPr>
        <p:spPr>
          <a:xfrm>
            <a:off x="635508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Wastefu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670" y="161163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Wasteful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560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24/7 recording fills storage, and most footage has no activity</a:t>
            </a:r>
            <a:endParaRPr lang="en-US" sz="1400" dirty="0"/>
          </a:p>
        </p:txBody>
      </p:sp>
      <p:sp>
        <p:nvSpPr>
          <p:cNvPr id="18" name="Solution banner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/>
        </p:spPr>
      </p:sp>
      <p:sp>
        <p:nvSpPr>
          <p:cNvPr id="19" name="Solution dot"/>
          <p:cNvSpPr/>
          <p:nvPr/>
        </p:nvSpPr>
        <p:spPr>
          <a:xfrm>
            <a:off x="777240" y="391363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1234440" y="3703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Our solution: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low-cost webcam system that stays idle and reacts only when something moves.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Objectives</a:t>
            </a:r>
            <a:endParaRPr lang="en-US" sz="3400" dirty="0"/>
          </a:p>
        </p:txBody>
      </p:sp>
      <p:sp>
        <p:nvSpPr>
          <p:cNvPr id="3" name="Objective row 1"/>
          <p:cNvSpPr/>
          <p:nvPr/>
        </p:nvSpPr>
        <p:spPr>
          <a:xfrm>
            <a:off x="457200" y="123444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Badge 1"/>
          <p:cNvSpPr txBox="1"/>
          <p:nvPr/>
        </p:nvSpPr>
        <p:spPr>
          <a:xfrm>
            <a:off x="594360" y="12984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Prepare frames with image operations</a:t>
            </a:r>
            <a:endParaRPr lang="en-US" sz="1600" dirty="0"/>
          </a:p>
        </p:txBody>
      </p:sp>
      <p:sp>
        <p:nvSpPr>
          <p:cNvPr id="6" name="Objective row 2"/>
          <p:cNvSpPr/>
          <p:nvPr/>
        </p:nvSpPr>
        <p:spPr>
          <a:xfrm>
            <a:off x="457200" y="1892808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Badge 2"/>
          <p:cNvSpPr txBox="1"/>
          <p:nvPr/>
        </p:nvSpPr>
        <p:spPr>
          <a:xfrm>
            <a:off x="594360" y="195681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892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Separate moving regions from the background (segmentation)</a:t>
            </a:r>
            <a:endParaRPr lang="en-US" sz="1600" dirty="0"/>
          </a:p>
        </p:txBody>
      </p:sp>
      <p:sp>
        <p:nvSpPr>
          <p:cNvPr id="9" name="Objective row 3"/>
          <p:cNvSpPr/>
          <p:nvPr/>
        </p:nvSpPr>
        <p:spPr>
          <a:xfrm>
            <a:off x="457200" y="2551176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Badge 3"/>
          <p:cNvSpPr txBox="1"/>
          <p:nvPr/>
        </p:nvSpPr>
        <p:spPr>
          <a:xfrm>
            <a:off x="594360" y="261518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511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Detect, track, and count moving objects</a:t>
            </a:r>
            <a:endParaRPr lang="en-US" sz="1600" dirty="0"/>
          </a:p>
        </p:txBody>
      </p:sp>
      <p:sp>
        <p:nvSpPr>
          <p:cNvPr id="12" name="Objective row 4"/>
          <p:cNvSpPr/>
          <p:nvPr/>
        </p:nvSpPr>
        <p:spPr>
          <a:xfrm>
            <a:off x="457200" y="3209544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Badge 4"/>
          <p:cNvSpPr txBox="1"/>
          <p:nvPr/>
        </p:nvSpPr>
        <p:spPr>
          <a:xfrm>
            <a:off x="594360" y="327355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095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Show status, object count, date and time on screen</a:t>
            </a:r>
            <a:endParaRPr lang="en-US" sz="1600" dirty="0"/>
          </a:p>
        </p:txBody>
      </p:sp>
      <p:sp>
        <p:nvSpPr>
          <p:cNvPr id="15" name="Objective row 5"/>
          <p:cNvSpPr/>
          <p:nvPr/>
        </p:nvSpPr>
        <p:spPr>
          <a:xfrm>
            <a:off x="457200" y="3867912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Badge 5"/>
          <p:cNvSpPr txBox="1"/>
          <p:nvPr/>
        </p:nvSpPr>
        <p:spPr>
          <a:xfrm>
            <a:off x="594360" y="39319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679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Auto-save timestamped screenshots when motion occurs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Techniques Used</a:t>
            </a:r>
            <a:endParaRPr lang="en-US" sz="3400" dirty="0"/>
          </a:p>
        </p:txBody>
      </p:sp>
      <p:sp>
        <p:nvSpPr>
          <p:cNvPr id="3" name="Topic a"/>
          <p:cNvSpPr/>
          <p:nvPr/>
        </p:nvSpPr>
        <p:spPr>
          <a:xfrm>
            <a:off x="457200" y="1234440"/>
            <a:ext cx="292608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</p:sp>
      <p:sp>
        <p:nvSpPr>
          <p:cNvPr id="4" name="Badge a"/>
          <p:cNvSpPr txBox="1"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34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Image Operations</a:t>
            </a:r>
            <a:endParaRPr lang="en-US" sz="1600" dirty="0"/>
          </a:p>
        </p:txBody>
      </p:sp>
      <p:sp>
        <p:nvSpPr>
          <p:cNvPr id="6" name="Functions a"/>
          <p:cNvSpPr/>
          <p:nvPr/>
        </p:nvSpPr>
        <p:spPr>
          <a:xfrm>
            <a:off x="3566160" y="1234440"/>
            <a:ext cx="512064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794760" y="13898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resize · cvtColor · GaussianBlur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Standardize frames, convert to grayscale, remove camera noise</a:t>
            </a:r>
            <a:endParaRPr lang="en-US" sz="1400" dirty="0"/>
          </a:p>
        </p:txBody>
      </p:sp>
      <p:sp>
        <p:nvSpPr>
          <p:cNvPr id="9" name="Topic b"/>
          <p:cNvSpPr/>
          <p:nvPr/>
        </p:nvSpPr>
        <p:spPr>
          <a:xfrm>
            <a:off x="457200" y="2377440"/>
            <a:ext cx="292608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</p:sp>
      <p:sp>
        <p:nvSpPr>
          <p:cNvPr id="10" name="Badge b"/>
          <p:cNvSpPr txBox="1"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77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Image Segmentation</a:t>
            </a:r>
            <a:endParaRPr lang="en-US" sz="1600" dirty="0"/>
          </a:p>
        </p:txBody>
      </p:sp>
      <p:sp>
        <p:nvSpPr>
          <p:cNvPr id="12" name="Functions b"/>
          <p:cNvSpPr/>
          <p:nvPr/>
        </p:nvSpPr>
        <p:spPr>
          <a:xfrm>
            <a:off x="3566160" y="2377440"/>
            <a:ext cx="512064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794760" y="25328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absdiff · threshold · dilate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Build a binary motion mask from frame differences</a:t>
            </a:r>
            <a:endParaRPr lang="en-US" sz="1400" dirty="0"/>
          </a:p>
        </p:txBody>
      </p:sp>
      <p:sp>
        <p:nvSpPr>
          <p:cNvPr id="15" name="Topic e"/>
          <p:cNvSpPr/>
          <p:nvPr/>
        </p:nvSpPr>
        <p:spPr>
          <a:xfrm>
            <a:off x="457200" y="3520440"/>
            <a:ext cx="292608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</p:sp>
      <p:sp>
        <p:nvSpPr>
          <p:cNvPr id="16" name="Badge e"/>
          <p:cNvSpPr txBox="1"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520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Motion and Object Tracking</a:t>
            </a:r>
            <a:endParaRPr lang="en-US" sz="1600" dirty="0"/>
          </a:p>
        </p:txBody>
      </p:sp>
      <p:sp>
        <p:nvSpPr>
          <p:cNvPr id="18" name="Functions e"/>
          <p:cNvSpPr/>
          <p:nvPr/>
        </p:nvSpPr>
        <p:spPr>
          <a:xfrm>
            <a:off x="3566160" y="3520440"/>
            <a:ext cx="512064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794760" y="36758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findContours · contourArea · boundingRect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4069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Detect, filter, and box the moving objects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Processing Pipeline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548640" y="118872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Badge 1"/>
          <p:cNvSpPr txBox="1"/>
          <p:nvPr/>
        </p:nvSpPr>
        <p:spPr>
          <a:xfrm>
            <a:off x="685800" y="132588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Capture a video frame</a:t>
            </a:r>
            <a:endParaRPr lang="en-US" sz="1400" dirty="0"/>
          </a:p>
        </p:txBody>
      </p:sp>
      <p:sp>
        <p:nvSpPr>
          <p:cNvPr id="6" name="Arrow 1"/>
          <p:cNvSpPr/>
          <p:nvPr/>
        </p:nvSpPr>
        <p:spPr>
          <a:xfrm>
            <a:off x="2340864" y="1673352"/>
            <a:ext cx="256032" cy="219456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7" name="Step 2"/>
          <p:cNvSpPr/>
          <p:nvPr/>
        </p:nvSpPr>
        <p:spPr>
          <a:xfrm>
            <a:off x="2651760" y="118872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Badge 2"/>
          <p:cNvSpPr txBox="1"/>
          <p:nvPr/>
        </p:nvSpPr>
        <p:spPr>
          <a:xfrm>
            <a:off x="2788920" y="132588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Resize, grayscale, Gaussian blur</a:t>
            </a:r>
            <a:endParaRPr lang="en-US" sz="1400" dirty="0"/>
          </a:p>
        </p:txBody>
      </p:sp>
      <p:sp>
        <p:nvSpPr>
          <p:cNvPr id="10" name="Arrow 2"/>
          <p:cNvSpPr/>
          <p:nvPr/>
        </p:nvSpPr>
        <p:spPr>
          <a:xfrm>
            <a:off x="4443984" y="1673352"/>
            <a:ext cx="256032" cy="219456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1" name="Step 3"/>
          <p:cNvSpPr/>
          <p:nvPr/>
        </p:nvSpPr>
        <p:spPr>
          <a:xfrm>
            <a:off x="4754880" y="118872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Badge 3"/>
          <p:cNvSpPr txBox="1"/>
          <p:nvPr/>
        </p:nvSpPr>
        <p:spPr>
          <a:xfrm>
            <a:off x="4892040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absdiff with the previous frame</a:t>
            </a:r>
            <a:endParaRPr lang="en-US" sz="1400" dirty="0"/>
          </a:p>
        </p:txBody>
      </p:sp>
      <p:sp>
        <p:nvSpPr>
          <p:cNvPr id="14" name="Arrow 3"/>
          <p:cNvSpPr/>
          <p:nvPr/>
        </p:nvSpPr>
        <p:spPr>
          <a:xfrm>
            <a:off x="6547104" y="1673352"/>
            <a:ext cx="256032" cy="219456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5" name="Step 4"/>
          <p:cNvSpPr/>
          <p:nvPr/>
        </p:nvSpPr>
        <p:spPr>
          <a:xfrm>
            <a:off x="6858000" y="118872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Badge 4"/>
          <p:cNvSpPr txBox="1"/>
          <p:nvPr/>
        </p:nvSpPr>
        <p:spPr>
          <a:xfrm>
            <a:off x="6995160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Threshold (25) and dilate</a:t>
            </a:r>
            <a:endParaRPr lang="en-US" sz="1400" dirty="0"/>
          </a:p>
        </p:txBody>
      </p:sp>
      <p:sp>
        <p:nvSpPr>
          <p:cNvPr id="18" name="Step 5"/>
          <p:cNvSpPr/>
          <p:nvPr/>
        </p:nvSpPr>
        <p:spPr>
          <a:xfrm>
            <a:off x="548640" y="256032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Badge 5"/>
          <p:cNvSpPr txBox="1"/>
          <p:nvPr/>
        </p:nvSpPr>
        <p:spPr>
          <a:xfrm>
            <a:off x="685800" y="269748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Find contours, keep area &gt; 3000</a:t>
            </a:r>
            <a:endParaRPr lang="en-US" sz="1400" dirty="0"/>
          </a:p>
        </p:txBody>
      </p:sp>
      <p:sp>
        <p:nvSpPr>
          <p:cNvPr id="21" name="Arrow 5"/>
          <p:cNvSpPr/>
          <p:nvPr/>
        </p:nvSpPr>
        <p:spPr>
          <a:xfrm>
            <a:off x="2340864" y="3044952"/>
            <a:ext cx="256032" cy="219456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2" name="Step 6"/>
          <p:cNvSpPr/>
          <p:nvPr/>
        </p:nvSpPr>
        <p:spPr>
          <a:xfrm>
            <a:off x="2651760" y="256032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Badge 6"/>
          <p:cNvSpPr txBox="1"/>
          <p:nvPr/>
        </p:nvSpPr>
        <p:spPr>
          <a:xfrm>
            <a:off x="2788920" y="269748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78892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Draw boxes, status, count, time</a:t>
            </a:r>
            <a:endParaRPr lang="en-US" sz="1400" dirty="0"/>
          </a:p>
        </p:txBody>
      </p:sp>
      <p:sp>
        <p:nvSpPr>
          <p:cNvPr id="25" name="Arrow 6"/>
          <p:cNvSpPr/>
          <p:nvPr/>
        </p:nvSpPr>
        <p:spPr>
          <a:xfrm>
            <a:off x="4443984" y="3044952"/>
            <a:ext cx="256032" cy="219456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6" name="Step 7"/>
          <p:cNvSpPr/>
          <p:nvPr/>
        </p:nvSpPr>
        <p:spPr>
          <a:xfrm>
            <a:off x="4754880" y="256032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Badge 7"/>
          <p:cNvSpPr txBox="1"/>
          <p:nvPr/>
        </p:nvSpPr>
        <p:spPr>
          <a:xfrm>
            <a:off x="4892040" y="269748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Save screenshot (5 s cooldown)</a:t>
            </a:r>
            <a:endParaRPr lang="en-US" sz="1400" dirty="0"/>
          </a:p>
        </p:txBody>
      </p:sp>
      <p:sp>
        <p:nvSpPr>
          <p:cNvPr id="29" name="Arrow 7"/>
          <p:cNvSpPr/>
          <p:nvPr/>
        </p:nvSpPr>
        <p:spPr>
          <a:xfrm>
            <a:off x="6547104" y="3044952"/>
            <a:ext cx="256032" cy="219456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30" name="Step 8"/>
          <p:cNvSpPr/>
          <p:nvPr/>
        </p:nvSpPr>
        <p:spPr>
          <a:xfrm>
            <a:off x="6858000" y="256032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Badge 8"/>
          <p:cNvSpPr txBox="1"/>
          <p:nvPr/>
        </p:nvSpPr>
        <p:spPr>
          <a:xfrm>
            <a:off x="6995160" y="269748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8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Show frame and motion mask</a:t>
            </a:r>
            <a:endParaRPr lang="en-US" sz="1400" dirty="0"/>
          </a:p>
        </p:txBody>
      </p:sp>
      <p:sp>
        <p:nvSpPr>
          <p:cNvPr id="33" name="Legend dot 1"/>
          <p:cNvSpPr/>
          <p:nvPr/>
        </p:nvSpPr>
        <p:spPr>
          <a:xfrm>
            <a:off x="548640" y="3995928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95528" y="39410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a. Image Operations</a:t>
            </a:r>
            <a:endParaRPr lang="en-US" sz="1200" dirty="0"/>
          </a:p>
        </p:txBody>
      </p:sp>
      <p:sp>
        <p:nvSpPr>
          <p:cNvPr id="35" name="Legend dot 2"/>
          <p:cNvSpPr/>
          <p:nvPr/>
        </p:nvSpPr>
        <p:spPr>
          <a:xfrm>
            <a:off x="2651760" y="3995928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898648" y="39410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b. Segmentation</a:t>
            </a:r>
            <a:endParaRPr lang="en-US" sz="1200" dirty="0"/>
          </a:p>
        </p:txBody>
      </p:sp>
      <p:sp>
        <p:nvSpPr>
          <p:cNvPr id="37" name="Legend dot 3"/>
          <p:cNvSpPr/>
          <p:nvPr/>
        </p:nvSpPr>
        <p:spPr>
          <a:xfrm>
            <a:off x="4754880" y="3995928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001768" y="39410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e. Motion Tracking</a:t>
            </a:r>
            <a:endParaRPr lang="en-US" sz="1200" dirty="0"/>
          </a:p>
        </p:txBody>
      </p:sp>
      <p:sp>
        <p:nvSpPr>
          <p:cNvPr id="39" name="Legend dot 4"/>
          <p:cNvSpPr/>
          <p:nvPr/>
        </p:nvSpPr>
        <p:spPr>
          <a:xfrm>
            <a:off x="6858000" y="3995928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04888" y="39410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Output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43159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current frame becomes the previous frame in the next loop.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Frame Differencing Works</a:t>
            </a:r>
            <a:endParaRPr lang="en-US" sz="3400" dirty="0"/>
          </a:p>
        </p:txBody>
      </p:sp>
      <p:pic>
        <p:nvPicPr>
          <p:cNvPr id="3" name="Image 0" descr="Camera frame with the detected moving ob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234440"/>
            <a:ext cx="2926080" cy="2194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 Camera frame</a:t>
            </a:r>
            <a:endParaRPr lang="en-US" sz="1600" dirty="0"/>
          </a:p>
        </p:txBody>
      </p:sp>
      <p:pic>
        <p:nvPicPr>
          <p:cNvPr id="5" name="Image 1" descr="Motion mask: white regions show what chang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926080" cy="21945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93776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2. Motion mask</a:t>
            </a:r>
            <a:endParaRPr lang="en-US" sz="1600" dirty="0"/>
          </a:p>
        </p:txBody>
      </p:sp>
      <p:sp>
        <p:nvSpPr>
          <p:cNvPr id="7" name="Arrow 1"/>
          <p:cNvSpPr/>
          <p:nvPr/>
        </p:nvSpPr>
        <p:spPr>
          <a:xfrm>
            <a:off x="4443984" y="2221992"/>
            <a:ext cx="256032" cy="256032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8" name="Takeaway banner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Static areas become black. Moving areas become white.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Settings and Testing Results</a:t>
            </a:r>
            <a:endParaRPr lang="en-US" sz="3400" dirty="0"/>
          </a:p>
        </p:txBody>
      </p:sp>
      <p:sp>
        <p:nvSpPr>
          <p:cNvPr id="3" name="Settings card"/>
          <p:cNvSpPr/>
          <p:nvPr/>
        </p:nvSpPr>
        <p:spPr>
          <a:xfrm>
            <a:off x="457200" y="1188720"/>
            <a:ext cx="356616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Program settings (default)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3200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</a:rPr>
                        <a:t>Frame size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220"/>
                          </a:solidFill>
                        </a:rPr>
                        <a:t>800 × 600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</a:rPr>
                        <a:t>Blur kernel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220"/>
                          </a:solidFill>
                        </a:rPr>
                        <a:t>21 × 21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</a:rPr>
                        <a:t>Threshold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220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</a:rPr>
                        <a:t>MIN_CONTOUR_AREA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220"/>
                          </a:solidFill>
                        </a:rPr>
                        <a:t>3000 px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</a:rPr>
                        <a:t>CAPTURE_COOLDOWN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220"/>
                          </a:solidFill>
                        </a:rPr>
                        <a:t>5 sec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hart card"/>
          <p:cNvSpPr/>
          <p:nvPr/>
        </p:nvSpPr>
        <p:spPr>
          <a:xfrm>
            <a:off x="4206240" y="1188720"/>
            <a:ext cx="448056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4297680" y="1234440"/>
          <a:ext cx="42976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389120" y="3218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Min area / threshold / dilation:  A 500 / 20 / 2  ·  B 3000 / 25 / 2  ·  C 5000 / 30 / 3</a:t>
            </a:r>
            <a:endParaRPr lang="en-US" sz="1200" dirty="0"/>
          </a:p>
        </p:txBody>
      </p:sp>
      <p:sp>
        <p:nvSpPr>
          <p:cNvPr id="9" name="Takeaway banner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31520" y="3931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 B kept as default: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cleaner boxes (about 2 per frame vs 9 for Test A). Test A is best when small movement matters.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Live Demo</a:t>
            </a:r>
            <a:endParaRPr lang="en-US" sz="3400" dirty="0"/>
          </a:p>
        </p:txBody>
      </p:sp>
      <p:sp>
        <p:nvSpPr>
          <p:cNvPr id="3" name="Run card"/>
          <p:cNvSpPr/>
          <p:nvPr/>
        </p:nvSpPr>
        <p:spPr>
          <a:xfrm>
            <a:off x="457200" y="1234440"/>
            <a:ext cx="338328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/>
        </p:spPr>
      </p:sp>
      <p:sp>
        <p:nvSpPr>
          <p:cNvPr id="4" name="Monitoring pill"/>
          <p:cNvSpPr txBox="1"/>
          <p:nvPr/>
        </p:nvSpPr>
        <p:spPr>
          <a:xfrm>
            <a:off x="731520" y="1508760"/>
            <a:ext cx="283464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MONITORING</a:t>
            </a:r>
            <a:endParaRPr lang="en-US" sz="1600" dirty="0"/>
          </a:p>
        </p:txBody>
      </p:sp>
      <p:sp>
        <p:nvSpPr>
          <p:cNvPr id="5" name="Motion pill"/>
          <p:cNvSpPr txBox="1"/>
          <p:nvPr/>
        </p:nvSpPr>
        <p:spPr>
          <a:xfrm>
            <a:off x="731520" y="2148840"/>
            <a:ext cx="283464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MOTION DETECTED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python main.py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Press Q to quit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31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Backup: samples/demo.mp4</a:t>
            </a:r>
            <a:endParaRPr lang="en-US" sz="1400" dirty="0"/>
          </a:p>
        </p:txBody>
      </p:sp>
      <p:sp>
        <p:nvSpPr>
          <p:cNvPr id="9" name="Demo step 1"/>
          <p:cNvSpPr/>
          <p:nvPr/>
        </p:nvSpPr>
        <p:spPr>
          <a:xfrm>
            <a:off x="4114800" y="1234440"/>
            <a:ext cx="457200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10" name="Badge 1"/>
          <p:cNvSpPr txBox="1"/>
          <p:nvPr/>
        </p:nvSpPr>
        <p:spPr>
          <a:xfrm>
            <a:off x="4251960" y="13350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2344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Stay still: MONITORING, count 0</a:t>
            </a:r>
            <a:endParaRPr lang="en-US" sz="1600" dirty="0"/>
          </a:p>
        </p:txBody>
      </p:sp>
      <p:sp>
        <p:nvSpPr>
          <p:cNvPr id="12" name="Demo step 2"/>
          <p:cNvSpPr/>
          <p:nvPr/>
        </p:nvSpPr>
        <p:spPr>
          <a:xfrm>
            <a:off x="4114800" y="1892808"/>
            <a:ext cx="457200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13" name="Badge 2"/>
          <p:cNvSpPr txBox="1"/>
          <p:nvPr/>
        </p:nvSpPr>
        <p:spPr>
          <a:xfrm>
            <a:off x="4251960" y="19933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8928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Wave a hand: MOTION DETECTED + box</a:t>
            </a:r>
            <a:endParaRPr lang="en-US" sz="1600" dirty="0"/>
          </a:p>
        </p:txBody>
      </p:sp>
      <p:sp>
        <p:nvSpPr>
          <p:cNvPr id="15" name="Demo step 3"/>
          <p:cNvSpPr/>
          <p:nvPr/>
        </p:nvSpPr>
        <p:spPr>
          <a:xfrm>
            <a:off x="4114800" y="2551176"/>
            <a:ext cx="457200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16" name="Badge 3"/>
          <p:cNvSpPr txBox="1"/>
          <p:nvPr/>
        </p:nvSpPr>
        <p:spPr>
          <a:xfrm>
            <a:off x="425196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5511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Two moving objects: count goes up</a:t>
            </a:r>
            <a:endParaRPr lang="en-US" sz="1600" dirty="0"/>
          </a:p>
        </p:txBody>
      </p:sp>
      <p:sp>
        <p:nvSpPr>
          <p:cNvPr id="18" name="Demo step 4"/>
          <p:cNvSpPr/>
          <p:nvPr/>
        </p:nvSpPr>
        <p:spPr>
          <a:xfrm>
            <a:off x="4114800" y="3209544"/>
            <a:ext cx="457200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19" name="Badge 4"/>
          <p:cNvSpPr txBox="1"/>
          <p:nvPr/>
        </p:nvSpPr>
        <p:spPr>
          <a:xfrm>
            <a:off x="4251960" y="331012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2095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Stop moving: back to MONITORING</a:t>
            </a:r>
            <a:endParaRPr lang="en-US" sz="1600" dirty="0"/>
          </a:p>
        </p:txBody>
      </p:sp>
      <p:sp>
        <p:nvSpPr>
          <p:cNvPr id="21" name="Demo step 5"/>
          <p:cNvSpPr/>
          <p:nvPr/>
        </p:nvSpPr>
        <p:spPr>
          <a:xfrm>
            <a:off x="4114800" y="3867912"/>
            <a:ext cx="457200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22" name="Badge 5"/>
          <p:cNvSpPr txBox="1"/>
          <p:nvPr/>
        </p:nvSpPr>
        <p:spPr>
          <a:xfrm>
            <a:off x="4251960" y="396849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8679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captures/ folder: saved screenshots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Results</a:t>
            </a:r>
            <a:endParaRPr lang="en-US" sz="3400" dirty="0"/>
          </a:p>
        </p:txBody>
      </p:sp>
      <p:pic>
        <p:nvPicPr>
          <p:cNvPr id="3" name="Image 0" descr="Monitoring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2560320" cy="1920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Monitoring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630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Green status, count 0, nothing is moving</a:t>
            </a:r>
            <a:endParaRPr lang="en-US" sz="1400" dirty="0"/>
          </a:p>
        </p:txBody>
      </p:sp>
      <p:pic>
        <p:nvPicPr>
          <p:cNvPr id="6" name="Image 1" descr="Motion detected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80160"/>
            <a:ext cx="2560320" cy="1920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9184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Motion detected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3291840" y="3630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Red status, bounding boxes, count, date and time</a:t>
            </a:r>
            <a:endParaRPr lang="en-US" sz="1400" dirty="0"/>
          </a:p>
        </p:txBody>
      </p:sp>
      <p:pic>
        <p:nvPicPr>
          <p:cNvPr id="9" name="Image 2" descr="Saved capture screens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2560320" cy="19202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12648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Saved capture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126480" y="3630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Timestamped screenshot saved in captures/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Limitations</a:t>
            </a:r>
            <a:endParaRPr lang="en-US" sz="3400" dirty="0"/>
          </a:p>
        </p:txBody>
      </p:sp>
      <p:sp>
        <p:nvSpPr>
          <p:cNvPr id="3" name="Limitation card 1"/>
          <p:cNvSpPr/>
          <p:nvPr/>
        </p:nvSpPr>
        <p:spPr>
          <a:xfrm>
            <a:off x="457200" y="118872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Lighting and shadows circl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mage 0" descr="Lighting and shado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Lighting and shadows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3852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Sudden brightness changes and moving shadows can trigger false motion</a:t>
            </a:r>
            <a:endParaRPr lang="en-US" sz="1400" dirty="0"/>
          </a:p>
        </p:txBody>
      </p:sp>
      <p:sp>
        <p:nvSpPr>
          <p:cNvPr id="8" name="Limitation card 2"/>
          <p:cNvSpPr/>
          <p:nvPr/>
        </p:nvSpPr>
        <p:spPr>
          <a:xfrm>
            <a:off x="3291840" y="118872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low or stopped objects circle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mage 1" descr="Slow or stopped objec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Slow or stopped objects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93852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Only consecutive frames are compared, so stopped objects disappear</a:t>
            </a:r>
            <a:endParaRPr lang="en-US" sz="1400" dirty="0"/>
          </a:p>
        </p:txBody>
      </p:sp>
      <p:sp>
        <p:nvSpPr>
          <p:cNvPr id="13" name="Limitation card 3"/>
          <p:cNvSpPr/>
          <p:nvPr/>
        </p:nvSpPr>
        <p:spPr>
          <a:xfrm>
            <a:off x="6126480" y="118872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Merged or split boxes circle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Merged or split box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Merged or split boxes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193852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Nearby objects can merge into one box, so the count is approximate</a:t>
            </a:r>
            <a:endParaRPr lang="en-US" sz="1400" dirty="0"/>
          </a:p>
        </p:txBody>
      </p:sp>
      <p:sp>
        <p:nvSpPr>
          <p:cNvPr id="18" name="Limitation card 4"/>
          <p:cNvSpPr/>
          <p:nvPr/>
        </p:nvSpPr>
        <p:spPr>
          <a:xfrm>
            <a:off x="457200" y="288036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No identification circle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3" descr="No identific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177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identification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3016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 sees movement, but cannot tell a person from an animal</a:t>
            </a:r>
            <a:endParaRPr lang="en-US" sz="1400" dirty="0"/>
          </a:p>
        </p:txBody>
      </p:sp>
      <p:sp>
        <p:nvSpPr>
          <p:cNvPr id="23" name="Limitation card 5"/>
          <p:cNvSpPr/>
          <p:nvPr/>
        </p:nvSpPr>
        <p:spPr>
          <a:xfrm>
            <a:off x="3291840" y="288036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Camera movement circle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Image 4" descr="Camera movem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1775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Camera movement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63016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If the camera shakes, the whole frame looks like motion</a:t>
            </a:r>
            <a:endParaRPr lang="en-US" sz="1400" dirty="0"/>
          </a:p>
        </p:txBody>
      </p:sp>
      <p:sp>
        <p:nvSpPr>
          <p:cNvPr id="28" name="Limitation card 6"/>
          <p:cNvSpPr/>
          <p:nvPr/>
        </p:nvSpPr>
        <p:spPr>
          <a:xfrm>
            <a:off x="6126480" y="288036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Limited testing circle"/>
          <p:cNvSpPr/>
          <p:nvPr/>
        </p:nvSpPr>
        <p:spPr>
          <a:xfrm>
            <a:off x="6309360" y="30632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Image 5" descr="Limited test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Limited testing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363016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All tests used one video; more scenes and lighting are needed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Possible Improvements</a:t>
            </a:r>
            <a:endParaRPr lang="en-US" sz="3400" dirty="0"/>
          </a:p>
        </p:txBody>
      </p:sp>
      <p:sp>
        <p:nvSpPr>
          <p:cNvPr id="3" name="Background subtraction circle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Background subtr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4401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298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Background subtraction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MOG2 handles lighting changes and slow movement better</a:t>
            </a:r>
            <a:endParaRPr lang="en-US" sz="1400" dirty="0"/>
          </a:p>
        </p:txBody>
      </p:sp>
      <p:sp>
        <p:nvSpPr>
          <p:cNvPr id="7" name="Region of interest circle"/>
          <p:cNvSpPr/>
          <p:nvPr/>
        </p:nvSpPr>
        <p:spPr>
          <a:xfrm>
            <a:off x="457200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Region of intere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5374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Region of interest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Only important areas trigger alerts</a:t>
            </a:r>
            <a:endParaRPr lang="en-US" sz="1400" dirty="0"/>
          </a:p>
        </p:txBody>
      </p:sp>
      <p:sp>
        <p:nvSpPr>
          <p:cNvPr id="11" name="Alerts circle"/>
          <p:cNvSpPr/>
          <p:nvPr/>
        </p:nvSpPr>
        <p:spPr>
          <a:xfrm>
            <a:off x="457200" y="3474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Aler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6347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4930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Alerts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Sound, email, or SMS notifications</a:t>
            </a:r>
            <a:endParaRPr lang="en-US" sz="1400" dirty="0"/>
          </a:p>
        </p:txBody>
      </p:sp>
      <p:sp>
        <p:nvSpPr>
          <p:cNvPr id="15" name="Video clips circle"/>
          <p:cNvSpPr/>
          <p:nvPr/>
        </p:nvSpPr>
        <p:spPr>
          <a:xfrm>
            <a:off x="4663440" y="1280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3" descr="Video clip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14401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532120" y="1298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Video clips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5532120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Record short clips, not only images</a:t>
            </a:r>
            <a:endParaRPr lang="en-US" sz="1400" dirty="0"/>
          </a:p>
        </p:txBody>
      </p:sp>
      <p:sp>
        <p:nvSpPr>
          <p:cNvPr id="19" name="Person check circle"/>
          <p:cNvSpPr/>
          <p:nvPr/>
        </p:nvSpPr>
        <p:spPr>
          <a:xfrm>
            <a:off x="4663440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4" descr="Person 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60" y="25374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53212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Person check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553212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 a Haar cascade to confirm a person is present</a:t>
            </a:r>
            <a:endParaRPr lang="en-US" sz="1400" dirty="0"/>
          </a:p>
        </p:txBody>
      </p:sp>
      <p:sp>
        <p:nvSpPr>
          <p:cNvPr id="23" name="More testing circle"/>
          <p:cNvSpPr/>
          <p:nvPr/>
        </p:nvSpPr>
        <p:spPr>
          <a:xfrm>
            <a:off x="4663440" y="3474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5" descr="More test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3460" y="363474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532120" y="34930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More testing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553212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More videos, lighting conditions, and movement speeds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Learning 1"/>
          <p:cNvSpPr/>
          <p:nvPr/>
        </p:nvSpPr>
        <p:spPr>
          <a:xfrm>
            <a:off x="457200" y="1280160"/>
            <a:ext cx="457200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4" name="Check 1 circle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80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Preprocessing strongly affects detection quality</a:t>
            </a:r>
            <a:endParaRPr lang="en-US" sz="1600" dirty="0"/>
          </a:p>
        </p:txBody>
      </p:sp>
      <p:sp>
        <p:nvSpPr>
          <p:cNvPr id="7" name="Learning 2"/>
          <p:cNvSpPr/>
          <p:nvPr/>
        </p:nvSpPr>
        <p:spPr>
          <a:xfrm>
            <a:off x="457200" y="2377440"/>
            <a:ext cx="457200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8" name="Check 2 circle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97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Parameter tuning balances sensitivity and false alarms</a:t>
            </a:r>
            <a:endParaRPr lang="en-US" sz="1600" dirty="0"/>
          </a:p>
        </p:txBody>
      </p:sp>
      <p:sp>
        <p:nvSpPr>
          <p:cNvPr id="11" name="Learning 3"/>
          <p:cNvSpPr/>
          <p:nvPr/>
        </p:nvSpPr>
        <p:spPr>
          <a:xfrm>
            <a:off x="457200" y="3474720"/>
            <a:ext cx="457200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12" name="Check 3 circle"/>
          <p:cNvSpPr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947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Classical OpenCV can solve a real problem without machine learning</a:t>
            </a:r>
            <a:endParaRPr lang="en-US" sz="1600" dirty="0"/>
          </a:p>
        </p:txBody>
      </p:sp>
      <p:sp>
        <p:nvSpPr>
          <p:cNvPr id="15" name="Thank you card"/>
          <p:cNvSpPr/>
          <p:nvPr/>
        </p:nvSpPr>
        <p:spPr>
          <a:xfrm>
            <a:off x="5303520" y="1280160"/>
            <a:ext cx="3383280" cy="3108960"/>
          </a:xfrm>
          <a:prstGeom prst="roundRect">
            <a:avLst>
              <a:gd name="adj" fmla="val 3529"/>
            </a:avLst>
          </a:prstGeom>
          <a:solidFill>
            <a:schemeClr val="accent1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577840" y="1508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Thank you!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Questions?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557784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github.com/bevvy-boop/motion-security-camera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577840" y="3474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 · README · samples · screenshots · testing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urityCam">
  <a:themeElements>
    <a:clrScheme name="SecurityCam">
      <a:dk1>
        <a:srgbClr val="0B1220"/>
      </a:dk1>
      <a:lt1>
        <a:srgbClr val="FFFFFF"/>
      </a:lt1>
      <a:dk2>
        <a:srgbClr val="1E293B"/>
      </a:dk2>
      <a:lt2>
        <a:srgbClr val="F1F5F9"/>
      </a:lt2>
      <a:accent1>
        <a:srgbClr val="22C55E"/>
      </a:accent1>
      <a:accent2>
        <a:srgbClr val="EF4444"/>
      </a:accent2>
      <a:accent3>
        <a:srgbClr val="38BDF8"/>
      </a:accent3>
      <a:accent4>
        <a:srgbClr val="F59E0B"/>
      </a:accent4>
      <a:accent5>
        <a:srgbClr val="94A3B8"/>
      </a:accent5>
      <a:accent6>
        <a:srgbClr val="64748B"/>
      </a:accent6>
      <a:hlink>
        <a:srgbClr val="38BDF8"/>
      </a:hlink>
      <a:folHlink>
        <a:srgbClr val="94A3B8"/>
      </a:folHlink>
    </a:clrScheme>
    <a:fontScheme name="SecurityCa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Motion-Triggered Security Camera</dc:title>
  <dc:subject>CSC 126 Computer Vision Midterm Project</dc:subject>
  <dc:creator>PptxGenJS</dc:creator>
  <cp:lastModifiedBy>PptxGenJS</cp:lastModifiedBy>
  <cp:revision>1</cp:revision>
  <dcterms:created xsi:type="dcterms:W3CDTF">2026-10-12T11:56:25Z</dcterms:created>
  <dcterms:modified xsi:type="dcterms:W3CDTF">2026-10-12T11:56:25Z</dcterms:modified>
</cp:coreProperties>
</file>